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SLIDE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_YOU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Linear-Time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Permutation Check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Prover, Verifier &amp; Soundness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SNARK Permutation Arguments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Benedikt Bünz, Jessica Chen, Zachary DeStefano  —  New York University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Permutation Checks Matter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Wiring check is fundamental to every SNARK: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t>f</m:t>
                  </m:r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r>
                    <m:t>g</m:t>
                  </m:r>
                  <m:r>
                    <m:rPr>
                      <m:sty m:val="p"/>
                    </m:rPr>
                    <m:t>(</m:t>
                  </m:r>
                  <m:r>
                    <m:t>σ</m:t>
                  </m:r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)</m:t>
                  </m:r>
                  <m:r>
                    <m:t> </m:t>
                  </m:r>
                  <m:r>
                    <m:rPr>
                      <m:sty m:val="p"/>
                    </m:rPr>
                    <m:t>∀</m:t>
                  </m:r>
                  <m:r>
                    <m:t>x</m:t>
                  </m:r>
                  <m:r>
                    <m:rPr>
                      <m:sty m:val="p"/>
                    </m:rPr>
                    <m:t>∈</m:t>
                  </m:r>
                  <m:sSub>
                    <m:e>
                      <m:r>
                        <m:rPr>
                          <m:scr m:val="script"/>
                          <m:sty m:val="p"/>
                        </m:rPr>
                        <m:t>B</m:t>
                      </m:r>
                    </m:e>
                    <m:sub>
                      <m:r>
                        <m:t>μ</m:t>
                      </m:r>
                    </m:sub>
                  </m:sSub>
                </m:oMath>
              </m:oMathPara>
            </a14:m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146304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84832"/>
            <a:ext cx="3611880" cy="8961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each gate computes correctly. Efficient via single sumcheck invocation — O(n) prover, O(log n) verifier.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64592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45920"/>
            <a:ext cx="54864" cy="146304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737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Wiring Check (Bottleneck)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084832"/>
            <a:ext cx="3611880" cy="8961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input/output connections are consistent. Current methods commit n extra elements or use O(log² n)-round GKR.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lIns="50800" tIns="50800" rIns="76200" bIns="50800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HyperPlonk, Spartan, STARK: all rely on permutation checks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checking in zkVMs (read/write consistency)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arguments for range proofs and non-arithmetic ops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Approaches &amp; Their Limitations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77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54864" cy="237744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Check (Plonk-style)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3611880" cy="18105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n extra field elements of full width.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 error: n/|F| (linear in input size).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n=2³², |F|=2¹²⁸: security only 2⁻⁹⁶.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Fiat-Shamir attacks raise further concerns.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397764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822960"/>
            <a:ext cx="54864" cy="237744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14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GKR-based (Spartan-style)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261872"/>
            <a:ext cx="3611880" cy="18105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commitments — O(n) field ops.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O(log² n) rounds, proof size, verifier time.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poor soundness: n/|F|.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prover latency, implementation complexity.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383280"/>
            <a:ext cx="54864" cy="118872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474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3822192"/>
            <a:ext cx="7863840" cy="62179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achieves the ideal: linear prover, log verifier, polylog soundness, no extra commitments, any PCS. Our BiPerm and MulPerm close this gap.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45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Idea: Sumcheck Formulation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937510"/>
            <a:ext cx="2743200" cy="36576"/>
          </a:xfrm>
          <a:prstGeom prst="rect">
            <a:avLst/>
          </a:prstGeom>
          <a:solidFill>
            <a:srgbClr val="0173B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Reducing Permutation to Sumcheck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permutation claim as a sum over an indicator function: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x</m:t>
                      </m:r>
                      <m:r>
                        <m:rPr>
                          <m:sty m:val="p"/>
                        </m:rPr>
                        <m:t>∈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B</m:t>
                          </m:r>
                        </m:e>
                        <m:sub>
                          <m:r>
                            <m:t>μ</m:t>
                          </m:r>
                        </m:sub>
                      </m:sSub>
                    </m:sub>
                    <m:sup>
                      <m:r>
                        <m:t>​</m:t>
                      </m:r>
                    </m:sup>
                    <m:e>
                      <m:r>
                        <m:t>f</m:t>
                      </m:r>
                    </m:e>
                  </m:nary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⋅</m:t>
                  </m:r>
                  <m:sSub>
                    <m:e>
                      <m:acc>
                        <m:accPr>
                          <m:chr m:val="̃"/>
                        </m:accPr>
                        <m:e>
                          <m:r>
                            <m:t>1</m:t>
                          </m:r>
                        </m:e>
                      </m:acc>
                    </m:e>
                    <m:sub>
                      <m:r>
                        <m:t>σ</m:t>
                      </m:r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t>α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r>
                    <m:t>g</m:t>
                  </m:r>
                  <m:r>
                    <m:rPr>
                      <m:sty m:val="p"/>
                    </m:rPr>
                    <m:t>(</m:t>
                  </m:r>
                  <m:r>
                    <m:t>α</m:t>
                  </m:r>
                  <m:r>
                    <m:rPr>
                      <m:sty m:val="p"/>
                    </m:rPr>
                    <m:t>)</m:t>
                  </m:r>
                </m:oMath>
              </m:oMathPara>
            </a14:m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indicator function is:</a:t>
            </a:r>
            <a:endParaRPr lang="en-US" sz="1500" dirty="0"/>
          </a:p>
        </p:txBody>
      </p:sp>
      <p:pic>
        <p:nvPicPr>
          <p:cNvPr id="6" name="Image 0" descr="formulas/f02-indic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8879" y="2011680"/>
            <a:ext cx="1926242" cy="502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269748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697480"/>
            <a:ext cx="54864" cy="182880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Question: How to Arithmetize the Indicator?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3136392"/>
            <a:ext cx="7863840" cy="126187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efficiency of the entire protocol hinges on the degree of the arithmetization.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HyperPlonk: degree μ → O(n·μ²) prover time.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insight: decompose the indicator into fewer, larger parts → lower degree → faster prover.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Degree–Complexity Tradeoff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the indicator into fewer parts reduces prover cost: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188720"/>
            <a:ext cx="8229600" cy="818147"/>
          </a:xfrm>
          <a:prstGeom prst="rect">
            <a:avLst/>
          </a:prstGeom>
        </p:spPr>
      </p:pic>
      <p:pic>
        <p:nvPicPr>
          <p:cNvPr id="5" name="Image 1" descr="formulas/f21-degree-tradeo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487" y="2240280"/>
            <a:ext cx="3217025" cy="41148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" y="278892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Shape 3"/>
          <p:cNvSpPr/>
          <p:nvPr/>
        </p:nvSpPr>
        <p:spPr>
          <a:xfrm>
            <a:off x="457200" y="2788920"/>
            <a:ext cx="54864" cy="182880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8" name="Text 4"/>
          <p:cNvSpPr/>
          <p:nvPr/>
        </p:nvSpPr>
        <p:spPr>
          <a:xfrm>
            <a:off x="685800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BiPerm (degree 2)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85800" y="3227832"/>
            <a:ext cx="3611880" cy="126187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indicator into 2 halves.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field ops, O(μ/|F|) soundness.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sparse PCS (Hyrax, Dory, KZH).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degree-3 sumcheck, no grand product.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709160" y="2788920"/>
            <a:ext cx="39776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2788920"/>
            <a:ext cx="54864" cy="182880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12" name="Text 8"/>
          <p:cNvSpPr/>
          <p:nvPr/>
        </p:nvSpPr>
        <p:spPr>
          <a:xfrm>
            <a:off x="4937760" y="288036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MulPerm (degree ℓ)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37760" y="3227832"/>
            <a:ext cx="3611880" cy="126187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ℓ = √μ parts.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n·Õ(√log n) field ops, any PCS.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Polylog soundness: O(μ³ˀ²/|F|).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sumchecks, compatible with all PCS.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45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BiPerm — Linear-Time Protocol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937510"/>
            <a:ext cx="2743200" cy="36576"/>
          </a:xfrm>
          <a:prstGeom prst="rect">
            <a:avLst/>
          </a:prstGeom>
          <a:solidFill>
            <a:srgbClr val="0173B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BiPerm: Splitting the Indicator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the indicator into left and right halves of the output bits: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m:t>1</m:t>
                      </m:r>
                    </m:e>
                    <m:sub>
                      <m:r>
                        <m:t>σ</m:t>
                      </m:r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sSub>
                    <m:e>
                      <m:r>
                        <m:t>1</m:t>
                      </m:r>
                    </m:e>
                    <m:sub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L</m:t>
                          </m:r>
                        </m:sub>
                      </m:sSub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sSub>
                    <m:e>
                      <m:r>
                        <m:t>Y</m:t>
                      </m:r>
                    </m:e>
                    <m:sub>
                      <m:r>
                        <m:t>L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⋅</m:t>
                  </m:r>
                  <m:sSub>
                    <m:e>
                      <m:r>
                        <m:t>1</m:t>
                      </m:r>
                    </m:e>
                    <m:sub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sSub>
                    <m:e>
                      <m:r>
                        <m:t>Y</m:t>
                      </m:r>
                    </m:e>
                    <m:sub>
                      <m:r>
                        <m:t>R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</m:oMath>
              </m:oMathPara>
            </a14:m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yields a degree-3 sumcheck: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x</m:t>
                      </m:r>
                      <m:r>
                        <m:rPr>
                          <m:sty m:val="p"/>
                        </m:rPr>
                        <m:t>∈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B</m:t>
                          </m:r>
                        </m:e>
                        <m:sub>
                          <m:r>
                            <m:t>μ</m:t>
                          </m:r>
                        </m:sub>
                      </m:sSub>
                    </m:sub>
                    <m:sup>
                      <m:r>
                        <m:t>​</m:t>
                      </m:r>
                    </m:sup>
                    <m:e>
                      <m:r>
                        <m:t>f</m:t>
                      </m:r>
                    </m:e>
                  </m:nary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⋅</m:t>
                  </m:r>
                  <m:sSub>
                    <m:e>
                      <m:acc>
                        <m:accPr>
                          <m:chr m:val="̃"/>
                        </m:accPr>
                        <m:e>
                          <m:r>
                            <m:t>1</m:t>
                          </m:r>
                        </m:e>
                      </m:acc>
                    </m:e>
                    <m:sub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L</m:t>
                          </m:r>
                        </m:sub>
                      </m:sSub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sSub>
                    <m:e>
                      <m:r>
                        <m:t>α</m:t>
                      </m:r>
                    </m:e>
                    <m:sub>
                      <m:r>
                        <m:t>L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⋅</m:t>
                  </m:r>
                  <m:sSub>
                    <m:e>
                      <m:acc>
                        <m:accPr>
                          <m:chr m:val="̃"/>
                        </m:accPr>
                        <m:e>
                          <m:r>
                            <m:t>1</m:t>
                          </m:r>
                        </m:e>
                      </m:acc>
                    </m:e>
                    <m:sub>
                      <m:sSub>
                        <m:e>
                          <m:r>
                            <m:t>σ</m:t>
                          </m:r>
                        </m:e>
                        <m:sub>
                          <m:r>
                            <m:t>R</m:t>
                          </m:r>
                        </m:sub>
                      </m:sSub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sSub>
                    <m:e>
                      <m:r>
                        <m:t>α</m:t>
                      </m:r>
                    </m:e>
                    <m:sub>
                      <m:r>
                        <m:t>R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r>
                    <m:t>g</m:t>
                  </m:r>
                  <m:r>
                    <m:rPr>
                      <m:sty m:val="p"/>
                    </m:rPr>
                    <m:t>(</m:t>
                  </m:r>
                  <m:r>
                    <m:t>α</m:t>
                  </m:r>
                  <m:r>
                    <m:rPr>
                      <m:sty m:val="p"/>
                    </m:rPr>
                    <m:t>)</m:t>
                  </m:r>
                </m:oMath>
              </m:oMathPara>
            </a14:m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39776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514600"/>
            <a:ext cx="54864" cy="210312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2953512"/>
            <a:ext cx="3611880" cy="153619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degree-3 sumcheck, no grand product.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n-sparse polynomials of size n¹˙⁵.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prover, O(μ) verifier.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O(μ/|F|) soundness, O(log n) proof.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709160" y="2514600"/>
            <a:ext cx="39776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514600"/>
            <a:ext cx="54864" cy="210312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2606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37760" y="2953512"/>
            <a:ext cx="3611880" cy="153619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MLEs have n√n entries (n-sparse).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PCS with sparsity-aware commit/open.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Hyrax, Dory, KZH.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KZG, FRI, Ligero.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Motivates MulPerm for universal PCS.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BiPerm: Properties &amp; PCS Compatibility</a:t>
            </a:r>
            <a:endParaRPr lang="en-US" sz="2200" dirty="0"/>
          </a:p>
        </p:txBody>
      </p:sp>
      <p:pic>
        <p:nvPicPr>
          <p:cNvPr id="3" name="Image 0" descr="formulas/f07-biperm-pro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3368" y="914400"/>
            <a:ext cx="4277264" cy="3200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645920"/>
                <a:gridCol w="1645920"/>
                <a:gridCol w="19202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Compatible?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Hyrax/KZH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Optimal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O(√n)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Optimal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KZG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O(n¹˙⁵)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O(n¹˙⁵)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Superlinear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FRI/WHIR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O(n¹˙⁵)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O(n¹˙⁵)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Superlinear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108960"/>
            <a:ext cx="8229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Takeaway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5800" y="3547872"/>
            <a:ext cx="7863840" cy="94183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with sparse-friendly PCS. Strictly O(n) prover beyond witness commitment.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index: O(n¹˙⁵) size, O(n) weight.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Shout (ST25) achieves same structure for lookups.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45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MulPerm — Universal Protocol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937510"/>
            <a:ext cx="2743200" cy="36576"/>
          </a:xfrm>
          <a:prstGeom prst="rect">
            <a:avLst/>
          </a:prstGeom>
          <a:solidFill>
            <a:srgbClr val="0173B2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MulPerm: Multi-Part Decomposition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BiPerm: decompose indicator into ℓ parts, each mapping μ/ℓ bits: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acc>
                        <m:accPr>
                          <m:chr m:val="̃"/>
                        </m:accPr>
                        <m:e>
                          <m:r>
                            <m:t>1</m:t>
                          </m:r>
                        </m:e>
                      </m:acc>
                    </m:e>
                    <m:sub>
                      <m:r>
                        <m:t>σ</m:t>
                      </m:r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nary>
                    <m:naryPr>
                      <m:chr m:val="∏"/>
                      <m:limLoc m:val="undOvr"/>
                      <m:subHide m:val="off"/>
                      <m:supHide m:val="off"/>
                    </m:naryPr>
                    <m:sub>
                      <m:r>
                        <m:t>j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sub>
                    <m:sup>
                      <m:r>
                        <m:t>ℓ</m:t>
                      </m:r>
                    </m:sup>
                    <m:e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t>1</m:t>
                              </m:r>
                            </m:e>
                          </m:acc>
                        </m:e>
                        <m:sub>
                          <m:r>
                            <m:t>j</m:t>
                          </m:r>
                        </m:sub>
                      </m:sSub>
                    </m:e>
                  </m:nary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sSup>
                    <m:e>
                      <m:r>
                        <m:t>Y</m:t>
                      </m:r>
                    </m:e>
                    <m:sup>
                      <m:r>
                        <m:rPr>
                          <m:sty m:val="p"/>
                        </m:rPr>
                        <m:t>(</m:t>
                      </m:r>
                      <m:r>
                        <m:t>j</m:t>
                      </m:r>
                      <m:r>
                        <m:rPr>
                          <m:sty m:val="p"/>
                        </m:rPr>
                        <m:t>)</m:t>
                      </m:r>
                    </m:sup>
                  </m:sSup>
                  <m:r>
                    <m:rPr>
                      <m:sty m:val="p"/>
                    </m:rPr>
                    <m:t>)</m:t>
                  </m:r>
                </m:oMath>
              </m:oMathPara>
            </a14:m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is a product of eq polynomials: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t>p</m:t>
                  </m:r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rPr>
                      <m:sty m:val="p"/>
                    </m:rPr>
                    <m:t>⟨</m:t>
                  </m:r>
                  <m:r>
                    <m:t>j</m:t>
                  </m:r>
                  <m:r>
                    <m:rPr>
                      <m:sty m:val="p"/>
                    </m:rPr>
                    <m:t>⟩</m:t>
                  </m:r>
                  <m:r>
                    <m:rPr>
                      <m:sty m:val="p"/>
                    </m:rPr>
                    <m:t>)</m:t>
                  </m:r>
                  <m:box>
                    <m:boxPr>
                      <m:opEmu m:val="on"/>
                    </m:boxPr>
                    <m:e>
                      <m:r>
                        <m:rPr>
                          <m:sty m:val="p"/>
                        </m:rPr>
                        <m:t>:=</m:t>
                      </m:r>
                    </m:e>
                  </m:box>
                  <m:nary>
                    <m:naryPr>
                      <m:chr m:val="∏"/>
                      <m:limLoc m:val="undOvr"/>
                      <m:subHide m:val="off"/>
                      <m:supHide m:val="off"/>
                    </m:naryPr>
                    <m:sub>
                      <m:r>
                        <m:t>i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sub>
                    <m:sup>
                      <m:r>
                        <m:t>μ</m:t>
                      </m:r>
                      <m:r>
                        <m:rPr>
                          <m:sty m:val="p"/>
                        </m:rPr>
                        <m:t>/</m:t>
                      </m:r>
                      <m:r>
                        <m:t>ℓ</m:t>
                      </m:r>
                    </m:sup>
                    <m:e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q</m:t>
                      </m:r>
                    </m:e>
                  </m:nary>
                  <m:d>
                    <m:dPr>
                      <m:begChr m:val="("/>
                      <m:sepChr m:val=""/>
                      <m:endChr m:val=")"/>
                      <m:grow/>
                    </m:dPr>
                    <m:e>
                      <m:r>
                        <m:t>α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⟨</m:t>
                      </m:r>
                      <m:sSup>
                        <m:e>
                          <m: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⟩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 </m:t>
                      </m:r>
                      <m:sSub>
                        <m:e>
                          <m:acc>
                            <m:accPr>
                              <m:chr m:val="̃"/>
                            </m:accPr>
                            <m:e>
                              <m:r>
                                <m:t>σ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m:t>[</m:t>
                          </m:r>
                          <m:r>
                            <m:t>μ</m:t>
                          </m:r>
                          <m:r>
                            <m:rPr>
                              <m:sty m:val="p"/>
                            </m:rPr>
                            <m:t>]</m:t>
                          </m:r>
                        </m:sub>
                      </m:sSub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p"/>
                        </m:rPr>
                        <m:t>⟨</m:t>
                      </m:r>
                      <m:sSup>
                        <m:e>
                          <m:r>
                            <m:t>j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′</m:t>
                          </m:r>
                        </m:sup>
                      </m:sSup>
                      <m:r>
                        <m:rPr>
                          <m:sty m:val="p"/>
                        </m:rPr>
                        <m:t>+</m:t>
                      </m:r>
                      <m:r>
                        <m:t>i</m:t>
                      </m:r>
                      <m:r>
                        <m:rPr>
                          <m:sty m:val="p"/>
                        </m:rPr>
                        <m:t>⟩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x</m:t>
                      </m:r>
                      <m:r>
                        <m:rPr>
                          <m:sty m:val="p"/>
                        </m:rPr>
                        <m:t>)</m:t>
                      </m:r>
                    </m:e>
                  </m:d>
                </m:oMath>
              </m:oMathPara>
            </a14:m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606040"/>
            <a:ext cx="54864" cy="192024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Two-Sumcheck Architecture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044952"/>
            <a:ext cx="7863840" cy="13533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sumcheck: verify the degree-(ℓ+1) relation over the boolean hypercube.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sumcheck: verify the partial product evaluations using preprocessed eq polynomials.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polynomials are multilinear and of size O(n) — compatible with any PCS.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MulPerm: First Sumcheck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main permutation relation via a degree-(ℓ+1) sumcheck: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x</m:t>
                      </m:r>
                      <m:r>
                        <m:rPr>
                          <m:sty m:val="p"/>
                        </m:rPr>
                        <m:t>∈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B</m:t>
                          </m:r>
                        </m:e>
                        <m:sub>
                          <m:r>
                            <m:t>μ</m:t>
                          </m:r>
                        </m:sub>
                      </m:sSub>
                    </m:sub>
                    <m:sup>
                      <m:r>
                        <m:t>​</m:t>
                      </m:r>
                    </m:sup>
                    <m:e>
                      <m:r>
                        <m:t>f</m:t>
                      </m:r>
                    </m:e>
                  </m:nary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⋅</m:t>
                  </m:r>
                  <m:nary>
                    <m:naryPr>
                      <m:chr m:val="∏"/>
                      <m:limLoc m:val="undOvr"/>
                      <m:subHide m:val="off"/>
                      <m:supHide m:val="on"/>
                    </m:naryPr>
                    <m:sub>
                      <m:r>
                        <m:t>j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rPr>
                          <m:sty m:val="p"/>
                        </m:rPr>
                        <m:t>[</m:t>
                      </m:r>
                      <m:r>
                        <m:t>ℓ</m:t>
                      </m:r>
                      <m:r>
                        <m:rPr>
                          <m:sty m:val="p"/>
                        </m:rPr>
                        <m:t>]</m:t>
                      </m:r>
                    </m:sub>
                    <m:sup>
                      <m:r>
                        <m:t>​</m:t>
                      </m:r>
                    </m:sup>
                    <m:e>
                      <m:acc>
                        <m:accPr>
                          <m:chr m:val="̃"/>
                        </m:accPr>
                        <m:e>
                          <m:r>
                            <m:t>p</m:t>
                          </m:r>
                        </m:e>
                      </m:acc>
                    </m:e>
                  </m:nary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rPr>
                      <m:sty m:val="p"/>
                    </m:rPr>
                    <m:t>⟨</m:t>
                  </m:r>
                  <m:r>
                    <m:t>j</m:t>
                  </m:r>
                  <m:r>
                    <m:rPr>
                      <m:sty m:val="p"/>
                    </m:rPr>
                    <m:t>⟩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r>
                    <m:t>g</m:t>
                  </m:r>
                  <m:r>
                    <m:rPr>
                      <m:sty m:val="p"/>
                    </m:rPr>
                    <m:t>(</m:t>
                  </m:r>
                  <m:r>
                    <m:t>α</m:t>
                  </m:r>
                  <m:r>
                    <m:rPr>
                      <m:sty m:val="p"/>
                    </m:rPr>
                    <m:t>)</m:t>
                  </m:r>
                </m:oMath>
              </m:oMathPara>
            </a14:m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77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274320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267712"/>
            <a:ext cx="3611880" cy="217627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 and partial products p over {0,1}^μ.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polynomial: degree ℓ+1.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μ rounds: reduces to point evals at random α.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397764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828800"/>
            <a:ext cx="54864" cy="274320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920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Prover Cost Analysis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267712"/>
            <a:ext cx="3611880" cy="217627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Naïve: O(n·ℓ·μ) total.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partial products map {0,1}→{0,1}: only 4 possible functions.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bucketing for the second sumcheck.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 Sumcheck &amp; Bucketing Trick</a:t>
            </a:r>
            <a:endParaRPr lang="en-US" sz="2200" dirty="0"/>
          </a:p>
        </p:txBody>
      </p:sp>
      <p:pic>
        <p:nvPicPr>
          <p:cNvPr id="3" name="Image 0" descr="formulas/f11-second-sum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7282" y="868680"/>
            <a:ext cx="6269435" cy="3657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325880"/>
            <a:ext cx="39776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1325880"/>
            <a:ext cx="54864" cy="201168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Bucketing Algorithm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1764792"/>
            <a:ext cx="3611880" cy="144475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polynomial takes finitely many distinct forms.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evaluations into buckets by signature.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rounds: few buckets → fast.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rounds: switch to direct evaluation.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09160" y="1325880"/>
            <a:ext cx="39776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325880"/>
            <a:ext cx="54864" cy="201168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14173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Bounded Function Space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937760" y="1764792"/>
            <a:ext cx="3611880" cy="144475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maps {0,1}→{0,1}: only 4^(μ/ℓ) possible round polynomial forms.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ℓ&gt;2: sublinear bucket count.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Early: O(n) via bucket aggregation.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Late: direct O(n/2^k) evaluation.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520440"/>
            <a:ext cx="54864" cy="105156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611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Switch Point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5800" y="3959352"/>
            <a:ext cx="7863840" cy="48463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at round k' = log √(log n). Balances bucket count growth (doubly exponential) against direct cost reduction. Total: n·Õ(√log n) field operations.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MulPerm: Putting It Together</a:t>
            </a:r>
            <a:endParaRPr lang="en-US" sz="2200" dirty="0"/>
          </a:p>
        </p:txBody>
      </p:sp>
      <p:pic>
        <p:nvPicPr>
          <p:cNvPr id="3" name="Image 0" descr="formulas/f12-total-c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364" y="868680"/>
            <a:ext cx="3777273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3716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173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n·Õ(√log n)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057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operations (any PCS)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24688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t>ℓ</m:t>
                  </m:r>
                  <m:r>
                    <m:rPr>
                      <m:sty m:val="p"/>
                    </m:rPr>
                    <m:t>=</m:t>
                  </m:r>
                  <m:rad>
                    <m:radPr>
                      <m:degHide m:val="on"/>
                    </m:radPr>
                    <m:deg/>
                    <m:e>
                      <m:r>
                        <m:t>μ</m:t>
                      </m:r>
                    </m:e>
                  </m:rad>
                  <m:r>
                    <m:t> </m:t>
                  </m:r>
                  <m:r>
                    <m:rPr>
                      <m:sty m:val="p"/>
                    </m:rPr>
                    <m:t>⇒</m:t>
                  </m:r>
                  <m:r>
                    <m:t> </m:t>
                  </m:r>
                  <m:r>
                    <m:t>n</m:t>
                  </m:r>
                  <m:r>
                    <m:rPr>
                      <m:sty m:val="p"/>
                    </m:rPr>
                    <m:t>⋅</m:t>
                  </m:r>
                  <m:acc>
                    <m:accPr>
                      <m:chr m:val="̃"/>
                    </m:accPr>
                    <m:e>
                      <m:r>
                        <m:t>O</m:t>
                      </m:r>
                    </m:e>
                  </m:acc>
                  <m:r>
                    <m:rPr>
                      <m:sty m:val="p"/>
                    </m:rPr>
                    <m:t>(</m:t>
                  </m:r>
                  <m:rad>
                    <m:radPr>
                      <m:degHide m:val="on"/>
                    </m:radPr>
                    <m:deg/>
                    <m:e>
                      <m:r>
                        <m:rPr>
                          <m:sty m:val="p"/>
                        </m:rPr>
                        <m:t>log</m:t>
                      </m:r>
                      <m:r>
                        <m:t>n</m:t>
                      </m:r>
                    </m:e>
                  </m:rad>
                  <m:r>
                    <m:rPr>
                      <m:sty m:val="p"/>
                    </m:rPr>
                    <m:t>)</m:t>
                  </m:r>
                </m:oMath>
              </m:oMathPara>
            </a14:m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709160" y="1371600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709160" y="1371600"/>
            <a:ext cx="54864" cy="146304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MulPerm vs. Prior Work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937760" y="1810512"/>
            <a:ext cx="3611880" cy="8961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HyperPlonk sumcheck: prover speedup.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GKR: log² n → 2 log n rounds.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ProdCheck: n/|F| → polylog(n)/|F|.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commitments beyond witness.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r>
                        <m:t>δ</m:t>
                      </m:r>
                    </m:e>
                    <m:sub>
                      <m:r>
                        <m:t>s</m:t>
                      </m:r>
                    </m:sub>
                  </m:sSub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t>O</m:t>
                      </m:r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μ</m:t>
                          </m:r>
                        </m:e>
                        <m:sup>
                          <m:r>
                            <m:t>3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m:t>)</m:t>
                      </m:r>
                    </m:num>
                    <m:den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cr m:val="double-struck"/>
                          <m:sty m:val="p"/>
                        </m:rPr>
                        <m:t>F</m:t>
                      </m:r>
                      <m:r>
                        <m:rPr>
                          <m:sty m:val="p"/>
                        </m:rPr>
                        <m:t>|</m:t>
                      </m:r>
                    </m:den>
                  </m:f>
                  <m:r>
                    <m:rPr>
                      <m:sty m:val="p"/>
                    </m:rPr>
                    <m:t>=</m:t>
                  </m:r>
                  <m:f>
                    <m:fPr>
                      <m:type m:val="bar"/>
                    </m:fPr>
                    <m:num>
                      <m:r>
                        <m:rPr>
                          <m:sty m:val="p"/>
                        </m:rPr>
                        <m:t>p</m:t>
                      </m:r>
                      <m:r>
                        <m:rPr>
                          <m:sty m:val="p"/>
                        </m:rPr>
                        <m:t>o</m:t>
                      </m:r>
                      <m:r>
                        <m:rPr>
                          <m:sty m:val="p"/>
                        </m:rPr>
                        <m:t>l</m:t>
                      </m:r>
                      <m:r>
                        <m:rPr>
                          <m:sty m:val="p"/>
                        </m:rPr>
                        <m:t>y</m:t>
                      </m:r>
                      <m:r>
                        <m:rPr>
                          <m:sty m:val="p"/>
                        </m:rPr>
                        <m:t>l</m:t>
                      </m:r>
                      <m:r>
                        <m:rPr>
                          <m:sty m:val="p"/>
                        </m:rPr>
                        <m:t>o</m:t>
                      </m:r>
                      <m:r>
                        <m:rPr>
                          <m:sty m:val="p"/>
                        </m:rPr>
                        <m:t>g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n</m:t>
                      </m:r>
                      <m:r>
                        <m:rPr>
                          <m:sty m:val="p"/>
                        </m:rPr>
                        <m:t>)</m:t>
                      </m:r>
                    </m:num>
                    <m:den>
                      <m:r>
                        <m:rPr>
                          <m:sty m:val="p"/>
                        </m:rPr>
                        <m:t>|</m:t>
                      </m:r>
                      <m:r>
                        <m:rPr>
                          <m:scr m:val="double-struck"/>
                          <m:sty m:val="p"/>
                        </m:rPr>
                        <m:t>F</m:t>
                      </m:r>
                      <m:r>
                        <m:rPr>
                          <m:sty m:val="p"/>
                        </m:rPr>
                        <m:t>|</m:t>
                      </m:r>
                    </m:den>
                  </m:f>
                </m:oMath>
              </m:oMathPara>
            </a14:m>
            <a:endParaRPr lang="en-US" sz="1500" dirty="0"/>
          </a:p>
        </p:txBody>
      </p:sp>
      <p:pic>
        <p:nvPicPr>
          <p:cNvPr id="12" name="Image 1" descr="formulas/f20-soundness-impro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844" y="3474720"/>
            <a:ext cx="2496312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7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Soundness: polylogarithmic, not linear. For n=2³²: 2⁻⁹⁶ → 2⁻¹²⁰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45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&amp; Extensions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937510"/>
            <a:ext cx="2743200" cy="36576"/>
          </a:xfrm>
          <a:prstGeom prst="rect">
            <a:avLst/>
          </a:prstGeom>
          <a:solidFill>
            <a:srgbClr val="0173B2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Comparison of Permutation Check PIOPs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188720"/>
                <a:gridCol w="1097280"/>
                <a:gridCol w="1645920"/>
                <a:gridCol w="1097280"/>
                <a:gridCol w="18288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|Comm.|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field 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n+log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GKR-based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log²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log²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log²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HyperPlonk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log²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n·Õ(log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log² n/|F|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MulPerm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log¹˙⁵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n·Õ(√log 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log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log¹˙⁵ n/|F|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457200" y="2926080"/>
            <a:ext cx="54864" cy="164592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Advantages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3364992"/>
            <a:ext cx="7863840" cy="107899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BiPerm: linear prover + log soundness (sparse PCS).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MulPerm: near-linear prover, any PCS, polylog soundness.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eliminate n extra commitments.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Applications: HyperPlonk &amp; Spartan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776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54864" cy="246888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Improving HyperPlonk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3611880" cy="190195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perm check with BiPerm/MulPerm.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witness commitment, no extra oracles.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gate+perm sumchecks.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Commitment: 2nF → |w|.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822960"/>
            <a:ext cx="397764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09160" y="822960"/>
            <a:ext cx="54864" cy="246888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914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Improving Spartan (SPARK)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261872"/>
            <a:ext cx="3611880" cy="190195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SPARK: row/col/val polynomials for sparse matrices.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GKR memory check with our lookup.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soundness, verifier time, proof size.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super-constant round GKR needed.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5080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SPARK sparse polynomial encoding:</a:t>
            </a:r>
            <a:endParaRPr lang="en-US" sz="1800" dirty="0"/>
          </a:p>
        </p:txBody>
      </p:sp>
      <p:pic>
        <p:nvPicPr>
          <p:cNvPr id="12" name="Image 0" descr="formulas/f23-sparse-po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1359" y="3703320"/>
            <a:ext cx="4781282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160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matches our lookup argument — row, col are maps between boolean hypercubes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Generalization to Lookup Arguments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injective permutation with arbitrary map to a table: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t>g</m:t>
                  </m:r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y</m:t>
                      </m:r>
                      <m:r>
                        <m:rPr>
                          <m:sty m:val="p"/>
                        </m:rPr>
                        <m:t>∈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B</m:t>
                          </m:r>
                        </m:e>
                        <m:sub>
                          <m:r>
                            <m:t>κ</m:t>
                          </m:r>
                        </m:sub>
                      </m:sSub>
                    </m:sub>
                    <m:sup>
                      <m:r>
                        <m:t>​</m:t>
                      </m:r>
                    </m:sup>
                    <m:e>
                      <m:r>
                        <m:t>t</m:t>
                      </m:r>
                    </m:e>
                  </m:nary>
                  <m:r>
                    <m:rPr>
                      <m:sty m:val="p"/>
                    </m:rPr>
                    <m:t>(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⋅</m:t>
                  </m:r>
                  <m:sSub>
                    <m:e>
                      <m:r>
                        <m:t>1</m:t>
                      </m:r>
                    </m:e>
                    <m:sub>
                      <m:r>
                        <m:t>ρ</m:t>
                      </m:r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t> </m:t>
                  </m:r>
                  <m:r>
                    <m:rPr>
                      <m:sty m:val="p"/>
                    </m:rPr>
                    <m:t>∀</m:t>
                  </m:r>
                  <m:r>
                    <m:t>x</m:t>
                  </m:r>
                  <m:r>
                    <m:rPr>
                      <m:sty m:val="p"/>
                    </m:rPr>
                    <m:t>∈</m:t>
                  </m:r>
                  <m:sSub>
                    <m:e>
                      <m:r>
                        <m:rPr>
                          <m:scr m:val="script"/>
                          <m:sty m:val="p"/>
                        </m:rPr>
                        <m:t>B</m:t>
                      </m:r>
                    </m:e>
                    <m:sub>
                      <m:r>
                        <m:t>μ</m:t>
                      </m:r>
                    </m:sub>
                  </m:sSub>
                </m:oMath>
              </m:oMathPara>
            </a14:m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" cy="137160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MulLookup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176272"/>
            <a:ext cx="3611880" cy="80467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lookup with polylog soundness.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Prover: n·Õ(√log T) for T&lt;n.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commits the map, no extra data.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73736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737360"/>
            <a:ext cx="54864" cy="137160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8288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Prover-Provided Maps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37760" y="2176272"/>
            <a:ext cx="3611880" cy="80467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map is well-formed.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check: output bits ∈ {0,1}.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Permutation: commit τ, verify σ(τ(x))=x.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91840"/>
            <a:ext cx="54864" cy="128016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83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Prover Cost &amp; Table Restrictions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3730752"/>
            <a:ext cx="7863840" cy="71323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T&lt;n: n·Õ(√log T) ops. n&lt;T&lt;n^{log n}: O(n(log T−log n)).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poly evaluated once at random point.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lookup argument with polylog soundness error.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2590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960120"/>
            <a:ext cx="54864" cy="237744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5156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BiPerm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399032"/>
            <a:ext cx="2225040" cy="18105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linear prover time.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degree-3 sumcheck.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n verifier, log n/|F| soundness.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sparse-friendly PCS.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682240" y="822960"/>
            <a:ext cx="320040" cy="320040"/>
          </a:xfrm>
          <a:prstGeom prst="ellipse">
            <a:avLst/>
          </a:prstGeom>
          <a:solidFill>
            <a:srgbClr val="0173B2"/>
          </a:solidFill>
          <a:ln/>
        </p:spPr>
      </p:sp>
      <p:sp>
        <p:nvSpPr>
          <p:cNvPr id="8" name="Text 6"/>
          <p:cNvSpPr/>
          <p:nvPr/>
        </p:nvSpPr>
        <p:spPr>
          <a:xfrm>
            <a:off x="268224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960120"/>
            <a:ext cx="2590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6600" y="960120"/>
            <a:ext cx="54864" cy="237744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11" name="Text 9"/>
          <p:cNvSpPr/>
          <p:nvPr/>
        </p:nvSpPr>
        <p:spPr>
          <a:xfrm>
            <a:off x="3505200" y="105156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MulPerm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05200" y="1399032"/>
            <a:ext cx="2225040" cy="18105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n·Õ(√log n) prover, any PCS.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sumcheck protocols.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Polylog soundness: μ³ˀ²/|F|.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commitments.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501640" y="822960"/>
            <a:ext cx="320040" cy="320040"/>
          </a:xfrm>
          <a:prstGeom prst="ellipse">
            <a:avLst/>
          </a:prstGeom>
          <a:solidFill>
            <a:srgbClr val="029E73"/>
          </a:solidFill>
          <a:ln/>
        </p:spPr>
      </p:sp>
      <p:sp>
        <p:nvSpPr>
          <p:cNvPr id="14" name="Text 12"/>
          <p:cNvSpPr/>
          <p:nvPr/>
        </p:nvSpPr>
        <p:spPr>
          <a:xfrm>
            <a:off x="550164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96000" y="960120"/>
            <a:ext cx="259080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96000" y="960120"/>
            <a:ext cx="54864" cy="237744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17" name="Text 15"/>
          <p:cNvSpPr/>
          <p:nvPr/>
        </p:nvSpPr>
        <p:spPr>
          <a:xfrm>
            <a:off x="6324600" y="105156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Lookups &amp; Apps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600" y="1399032"/>
            <a:ext cx="2225040" cy="18105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polylog-sound lookup.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HyperPlonk, Spartan.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R1CS-style GKR for layered circuits.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replacement.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321040" y="822960"/>
            <a:ext cx="320040" cy="320040"/>
          </a:xfrm>
          <a:prstGeom prst="ellipse">
            <a:avLst/>
          </a:prstGeom>
          <a:solidFill>
            <a:srgbClr val="DE8F05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822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17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witness commitment • No GKR needed • Polylog soundness • Drop-in replacement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389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Bünz, Chen, DeStefano — Linear-Time Permutation Check. 2025.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466850"/>
            <a:ext cx="8229600" cy="64389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[CBBZ23] Chen, Bowe, Bünz, Zhao — HyperPlonk. EUROCRYPT 2023.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2110740"/>
            <a:ext cx="8229600" cy="64389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[Set20] Setty — Spartan: Efficient and General-Purpose zkSNARKs. CRYPTO 2020.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754630"/>
            <a:ext cx="8229600" cy="64389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[STW24] Setty, Thaler, Wahby — Lasso: Lookup Arguments. EUROCRYPT 2024.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398520"/>
            <a:ext cx="8229600" cy="64389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[ST25] Setty, Thaler — Shout: Efficient Range-Check Protocol. ePrint 2024.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042410"/>
            <a:ext cx="8229600" cy="64389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[GKR08] Goldwasser, Kalai, Rothblum — Delegating Computation. STOC 2008.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4023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84607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455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/ Backup Slides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2937510"/>
            <a:ext cx="2743200" cy="36576"/>
          </a:xfrm>
          <a:prstGeom prst="rect">
            <a:avLst/>
          </a:prstGeom>
          <a:solidFill>
            <a:srgbClr val="0173B2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Prover-Provided Permutation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22960"/>
            <a:ext cx="54864" cy="164592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14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Binary Map Check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261872"/>
            <a:ext cx="3611880" cy="107899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each output bit of σ is in {0,1}.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sumcheck to verify the constraint:</a:t>
            </a:r>
            <a:endParaRPr lang="en-US" sz="1500" dirty="0"/>
          </a:p>
        </p:txBody>
      </p:sp>
      <p:pic>
        <p:nvPicPr>
          <p:cNvPr id="7" name="Image 0" descr="formulas/f16-bin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606040"/>
            <a:ext cx="3703320" cy="23438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82296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822960"/>
            <a:ext cx="54864" cy="1645920"/>
          </a:xfrm>
          <a:prstGeom prst="rect">
            <a:avLst/>
          </a:prstGeom>
          <a:solidFill>
            <a:srgbClr val="DE8F05"/>
          </a:solidFill>
          <a:ln/>
        </p:spPr>
      </p:sp>
      <p:sp>
        <p:nvSpPr>
          <p:cNvPr id="10" name="Text 7"/>
          <p:cNvSpPr/>
          <p:nvPr/>
        </p:nvSpPr>
        <p:spPr>
          <a:xfrm>
            <a:off x="4937760" y="9144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Inverse Trick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4937760" y="1261872"/>
            <a:ext cx="3611880" cy="107899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σ is a permutation (bijective):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inverse τ.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permutation check: σ(τ(x)) = x.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57200" y="3108960"/>
            <a:ext cx="82296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108960"/>
            <a:ext cx="54864" cy="150876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Batching Trick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85800" y="3547872"/>
            <a:ext cx="7863840" cy="94183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f=g and permutation check into a single sumcheck via random linear combination R: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p>
                    <m:e>
                      <m:r>
                        <m:t>f</m:t>
                      </m:r>
                    </m:e>
                    <m:sup>
                      <m:r>
                        <m:rPr>
                          <m:sty m:val="p"/>
                        </m:rPr>
                        <m:t>′</m:t>
                      </m:r>
                    </m:sup>
                  </m:sSup>
                  <m:r>
                    <m:rPr>
                      <m:sty m:val="p"/>
                    </m:rPr>
                    <m:t>(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r>
                    <m:t>y</m:t>
                  </m:r>
                  <m:r>
                    <m:rPr>
                      <m:sty m:val="p"/>
                    </m:rPr>
                    <m:t>+</m:t>
                  </m:r>
                  <m:r>
                    <m:t>R</m:t>
                  </m:r>
                  <m:r>
                    <m:rPr>
                      <m:sty m:val="p"/>
                    </m:rPr>
                    <m:t>⋅</m:t>
                  </m:r>
                  <m:r>
                    <m:t>f</m:t>
                  </m:r>
                  <m:r>
                    <m:rPr>
                      <m:sty m:val="p"/>
                    </m:rPr>
                    <m:t>(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,</m:t>
                  </m:r>
                  <m:r>
                    <m:t>  </m:t>
                  </m:r>
                  <m:sSup>
                    <m:e>
                      <m:r>
                        <m:t>g</m:t>
                      </m:r>
                    </m:e>
                    <m:sup>
                      <m:r>
                        <m:rPr>
                          <m:sty m:val="p"/>
                        </m:rPr>
                        <m:t>′</m:t>
                      </m:r>
                    </m:sup>
                  </m:sSup>
                  <m:r>
                    <m:rPr>
                      <m:sty m:val="p"/>
                    </m:rPr>
                    <m:t>(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r>
                    <m:t>τ</m:t>
                  </m:r>
                  <m:r>
                    <m:rPr>
                      <m:sty m:val="p"/>
                    </m:rPr>
                    <m:t>(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+</m:t>
                  </m:r>
                  <m:r>
                    <m:t>R</m:t>
                  </m:r>
                  <m:r>
                    <m:rPr>
                      <m:sty m:val="p"/>
                    </m:rPr>
                    <m:t>⋅</m:t>
                  </m:r>
                  <m:r>
                    <m:t>g</m:t>
                  </m:r>
                  <m:r>
                    <m:rPr>
                      <m:sty m:val="p"/>
                    </m:rPr>
                    <m:t>(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</m:oMath>
              </m:oMathPara>
            </a14:m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a14="http://schemas.microsoft.com/office/drawing/2010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Soundness &amp; Formal Statement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eq polynomial (building block of all indicator functions):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r>
                    <m:rPr>
                      <m:sty m:val="p"/>
                    </m:rPr>
                    <m:t>e</m:t>
                  </m:r>
                  <m:r>
                    <m:rPr>
                      <m:sty m:val="p"/>
                    </m:rPr>
                    <m:t>q</m:t>
                  </m:r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nary>
                    <m:naryPr>
                      <m:chr m:val="∏"/>
                      <m:limLoc m:val="undOvr"/>
                      <m:subHide m:val="off"/>
                      <m:supHide m:val="off"/>
                    </m:naryPr>
                    <m:sub>
                      <m:r>
                        <m:t>i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sub>
                    <m:sup>
                      <m:r>
                        <m:t>μ</m:t>
                      </m:r>
                    </m:sup>
                    <m:e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+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  <m:r>
                            <m:rPr>
                              <m:sty m:val="p"/>
                            </m:rPr>
                            <m:t>(</m:t>
                          </m:r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Y</m:t>
                              </m:r>
                            </m:e>
                            <m:sub>
                              <m:r>
                                <m:t>i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</m:d>
                    </m:e>
                  </m:nary>
                </m:oMath>
              </m:oMathPara>
            </a14:m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HyperPlonk arithmetization (degree-μ indicator):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sSub>
                    <m:e>
                      <m:acc>
                        <m:accPr>
                          <m:chr m:val="̃"/>
                        </m:accPr>
                        <m:e>
                          <m:r>
                            <m:t>1</m:t>
                          </m:r>
                        </m:e>
                      </m:acc>
                    </m:e>
                    <m:sub>
                      <m:r>
                        <m:t>σ</m:t>
                      </m:r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nary>
                    <m:naryPr>
                      <m:chr m:val="∏"/>
                      <m:limLoc m:val="undOvr"/>
                      <m:subHide m:val="off"/>
                      <m:supHide m:val="off"/>
                    </m:naryPr>
                    <m:sub>
                      <m:r>
                        <m:t>i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</m:sub>
                    <m:sup>
                      <m:r>
                        <m:t>μ</m:t>
                      </m:r>
                    </m:sup>
                    <m:e>
                      <m:r>
                        <m:rPr>
                          <m:sty m:val="p"/>
                        </m:rPr>
                        <m:t>e</m:t>
                      </m:r>
                      <m:r>
                        <m:rPr>
                          <m:sty m:val="p"/>
                        </m:rPr>
                        <m:t>q</m:t>
                      </m:r>
                    </m:e>
                  </m:nary>
                  <m:r>
                    <m:rPr>
                      <m:sty m:val="p"/>
                    </m:rPr>
                    <m:t>(</m:t>
                  </m:r>
                  <m:sSub>
                    <m:e>
                      <m:acc>
                        <m:accPr>
                          <m:chr m:val="̃"/>
                        </m:accPr>
                        <m:e>
                          <m:r>
                            <m:t>σ</m:t>
                          </m:r>
                        </m:e>
                      </m:acc>
                    </m:e>
                    <m:sub>
                      <m:r>
                        <m:t>i</m:t>
                      </m:r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,</m:t>
                  </m:r>
                  <m:r>
                    <m:t> </m:t>
                  </m:r>
                  <m:sSub>
                    <m:e>
                      <m:r>
                        <m:t>Y</m:t>
                      </m:r>
                    </m:e>
                    <m:sub>
                      <m:r>
                        <m:t>i</m:t>
                      </m:r>
                    </m:sub>
                  </m:sSub>
                  <m:r>
                    <m:rPr>
                      <m:sty m:val="p"/>
                    </m:rPr>
                    <m:t>)</m:t>
                  </m:r>
                </m:oMath>
              </m:oMathPara>
            </a14:m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claim (Lemma 4):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m:t>x</m:t>
                      </m:r>
                      <m:r>
                        <m:rPr>
                          <m:sty m:val="p"/>
                        </m:rPr>
                        <m:t>∈</m:t>
                      </m:r>
                      <m:sSub>
                        <m:e>
                          <m:r>
                            <m:rPr>
                              <m:scr m:val="script"/>
                              <m:sty m:val="p"/>
                            </m:rPr>
                            <m:t>B</m:t>
                          </m:r>
                        </m:e>
                        <m:sub>
                          <m:r>
                            <m:t>μ</m:t>
                          </m:r>
                        </m:sub>
                      </m:sSub>
                    </m:sub>
                    <m:sup>
                      <m:r>
                        <m:t>​</m:t>
                      </m:r>
                    </m:sup>
                    <m:e>
                      <m:r>
                        <m:t>f</m:t>
                      </m:r>
                    </m:e>
                  </m:nary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⋅</m:t>
                  </m:r>
                  <m:sSub>
                    <m:e>
                      <m:acc>
                        <m:accPr>
                          <m:chr m:val="̃"/>
                        </m:accPr>
                        <m:e>
                          <m:r>
                            <m:t>1</m:t>
                          </m:r>
                        </m:e>
                      </m:acc>
                    </m:e>
                    <m:sub>
                      <m:r>
                        <m:t>σ</m:t>
                      </m:r>
                    </m:sub>
                  </m:sSub>
                  <m:r>
                    <m:rPr>
                      <m:sty m:val="p"/>
                    </m:rPr>
                    <m:t>(</m:t>
                  </m:r>
                  <m:r>
                    <m:t>x</m:t>
                  </m:r>
                  <m:r>
                    <m:rPr>
                      <m:sty m:val="p"/>
                    </m:rPr>
                    <m:t>,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rPr>
                      <m:sty m:val="p"/>
                    </m:rPr>
                    <m:t>=</m:t>
                  </m:r>
                  <m:r>
                    <m:t>g</m:t>
                  </m:r>
                  <m:r>
                    <m:rPr>
                      <m:sty m:val="p"/>
                    </m:rPr>
                    <m:t>(</m:t>
                  </m:r>
                  <m:r>
                    <m:t>y</m:t>
                  </m:r>
                  <m:r>
                    <m:rPr>
                      <m:sty m:val="p"/>
                    </m:rPr>
                    <m:t>)</m:t>
                  </m:r>
                  <m:r>
                    <m:t> </m:t>
                  </m:r>
                  <m:r>
                    <m:rPr>
                      <m:sty m:val="p"/>
                    </m:rPr>
                    <m:t>∀</m:t>
                  </m:r>
                  <m:r>
                    <m:t>y</m:t>
                  </m:r>
                  <m:r>
                    <m:rPr>
                      <m:sty m:val="p"/>
                    </m:rPr>
                    <m:t>∈</m:t>
                  </m:r>
                  <m:sSub>
                    <m:e>
                      <m:r>
                        <m:rPr>
                          <m:scr m:val="script"/>
                          <m:sty m:val="p"/>
                        </m:rPr>
                        <m:t>B</m:t>
                      </m:r>
                    </m:e>
                    <m:sub>
                      <m:r>
                        <m:t>μ</m:t>
                      </m:r>
                    </m:sub>
                  </m:sSub>
                </m:oMath>
              </m:oMathPara>
            </a14:m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611880"/>
            <a:ext cx="54864" cy="1005840"/>
          </a:xfrm>
          <a:prstGeom prst="rect">
            <a:avLst/>
          </a:prstGeom>
          <a:solidFill>
            <a:srgbClr val="0173B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703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Soundness Bound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050792"/>
            <a:ext cx="7863840" cy="4389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BiPerm: O(μ/|F|). MulPerm: O(μ³ˀ²/|F|).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polylog vs linear n/|F|. n=2³²: 2⁻⁹⁶ → 2⁻¹²⁰.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Backup: Full Degree–Complexity Landscape</a:t>
            </a:r>
            <a:endParaRPr lang="en-US" sz="2200" dirty="0"/>
          </a:p>
        </p:txBody>
      </p:sp>
      <p:pic>
        <p:nvPicPr>
          <p:cNvPr id="3" name="Image 0" descr="formulas/f21-degree-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4764" y="914400"/>
            <a:ext cx="3574473" cy="457200"/>
          </a:xfrm>
          <a:prstGeom prst="rect">
            <a:avLst/>
          </a:prstGeom>
        </p:spPr>
      </p:pic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828800"/>
                <a:gridCol w="1828800"/>
                <a:gridCol w="16459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field 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Soundness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Naïve (full MLE)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n/|F|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BiPerm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n¹˙⁵ (sparse)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MulPerm (ℓ=√μ)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(dense)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n·Õ(√μ)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μ³ˀ²/|F|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HyperPlonk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(dense)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n·μ²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μ²/|F|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5"/>
                    </a:solidFill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315468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2"/>
          <p:cNvSpPr/>
          <p:nvPr/>
        </p:nvSpPr>
        <p:spPr>
          <a:xfrm>
            <a:off x="457200" y="3154680"/>
            <a:ext cx="54864" cy="1463040"/>
          </a:xfrm>
          <a:prstGeom prst="rect">
            <a:avLst/>
          </a:prstGeom>
          <a:solidFill>
            <a:srgbClr val="029E73"/>
          </a:solidFill>
          <a:ln/>
        </p:spPr>
      </p:sp>
      <p:sp>
        <p:nvSpPr>
          <p:cNvPr id="7" name="Text 3"/>
          <p:cNvSpPr/>
          <p:nvPr/>
        </p:nvSpPr>
        <p:spPr>
          <a:xfrm>
            <a:off x="685800" y="3246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Space Navigation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85800" y="3593592"/>
            <a:ext cx="7863840" cy="896112"/>
          </a:xfrm>
          <a:prstGeom prst="rect">
            <a:avLst/>
          </a:prstGeom>
          <a:noFill/>
          <a:ln/>
        </p:spPr>
        <p:txBody>
          <a:bodyPr wrap="square" lIns="25400" tIns="0" rIns="0" bIns="10160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Left→right: degree up, index shrinks, prover cost grows.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BiPerm &amp; MulPerm: optimal tradeoff zone.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break linear soundness barrier at near-linear prover cost.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Linear-Time Permutation Check</dc:title>
  <dc:subject>PptxGenJS Presentation</dc:subject>
  <dc:creator>Bünz, Chen, DeStefano</dc:creator>
  <cp:lastModifiedBy>Bünz, Chen, DeStefano</cp:lastModifiedBy>
  <cp:revision>1</cp:revision>
  <dcterms:created xsi:type="dcterms:W3CDTF">2026-03-13T03:24:27Z</dcterms:created>
  <dcterms:modified xsi:type="dcterms:W3CDTF">2026-03-13T03:24:27Z</dcterms:modified>
</cp:coreProperties>
</file>